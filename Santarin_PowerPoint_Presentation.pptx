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6" r:id="rId3"/>
    <p:sldId id="264" r:id="rId4"/>
    <p:sldId id="257" r:id="rId5"/>
    <p:sldId id="258" r:id="rId6"/>
    <p:sldId id="259" r:id="rId7"/>
    <p:sldId id="261" r:id="rId8"/>
    <p:sldId id="262" r:id="rId9"/>
    <p:sldId id="265" r:id="rId10"/>
    <p:sldId id="263" r:id="rId11"/>
    <p:sldId id="268"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0754" autoAdjust="0"/>
  </p:normalViewPr>
  <p:slideViewPr>
    <p:cSldViewPr snapToGrid="0">
      <p:cViewPr varScale="1">
        <p:scale>
          <a:sx n="67" d="100"/>
          <a:sy n="67" d="100"/>
        </p:scale>
        <p:origin x="680" y="5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6AA7CF-1548-47DC-A384-4C97BFBB9114}"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012E7B-A20F-4734-BFC8-9FEA5648A9AD}" type="slidenum">
              <a:rPr lang="en-US" smtClean="0"/>
              <a:t>‹#›</a:t>
            </a:fld>
            <a:endParaRPr lang="en-US"/>
          </a:p>
        </p:txBody>
      </p:sp>
    </p:spTree>
    <p:extLst>
      <p:ext uri="{BB962C8B-B14F-4D97-AF65-F5344CB8AC3E}">
        <p14:creationId xmlns:p14="http://schemas.microsoft.com/office/powerpoint/2010/main" val="3668268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1</a:t>
            </a:fld>
            <a:endParaRPr lang="en-US"/>
          </a:p>
        </p:txBody>
      </p:sp>
    </p:spTree>
    <p:extLst>
      <p:ext uri="{BB962C8B-B14F-4D97-AF65-F5344CB8AC3E}">
        <p14:creationId xmlns:p14="http://schemas.microsoft.com/office/powerpoint/2010/main" val="167889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2</a:t>
            </a:fld>
            <a:endParaRPr lang="en-US"/>
          </a:p>
        </p:txBody>
      </p:sp>
    </p:spTree>
    <p:extLst>
      <p:ext uri="{BB962C8B-B14F-4D97-AF65-F5344CB8AC3E}">
        <p14:creationId xmlns:p14="http://schemas.microsoft.com/office/powerpoint/2010/main" val="1952579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3</a:t>
            </a:fld>
            <a:endParaRPr lang="en-US"/>
          </a:p>
        </p:txBody>
      </p:sp>
    </p:spTree>
    <p:extLst>
      <p:ext uri="{BB962C8B-B14F-4D97-AF65-F5344CB8AC3E}">
        <p14:creationId xmlns:p14="http://schemas.microsoft.com/office/powerpoint/2010/main" val="353451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4</a:t>
            </a:fld>
            <a:endParaRPr lang="en-US"/>
          </a:p>
        </p:txBody>
      </p:sp>
    </p:spTree>
    <p:extLst>
      <p:ext uri="{BB962C8B-B14F-4D97-AF65-F5344CB8AC3E}">
        <p14:creationId xmlns:p14="http://schemas.microsoft.com/office/powerpoint/2010/main" val="2476294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5</a:t>
            </a:fld>
            <a:endParaRPr lang="en-US"/>
          </a:p>
        </p:txBody>
      </p:sp>
    </p:spTree>
    <p:extLst>
      <p:ext uri="{BB962C8B-B14F-4D97-AF65-F5344CB8AC3E}">
        <p14:creationId xmlns:p14="http://schemas.microsoft.com/office/powerpoint/2010/main" val="1977779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6</a:t>
            </a:fld>
            <a:endParaRPr lang="en-US"/>
          </a:p>
        </p:txBody>
      </p:sp>
    </p:spTree>
    <p:extLst>
      <p:ext uri="{BB962C8B-B14F-4D97-AF65-F5344CB8AC3E}">
        <p14:creationId xmlns:p14="http://schemas.microsoft.com/office/powerpoint/2010/main" val="1599569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7</a:t>
            </a:fld>
            <a:endParaRPr lang="en-US"/>
          </a:p>
        </p:txBody>
      </p:sp>
    </p:spTree>
    <p:extLst>
      <p:ext uri="{BB962C8B-B14F-4D97-AF65-F5344CB8AC3E}">
        <p14:creationId xmlns:p14="http://schemas.microsoft.com/office/powerpoint/2010/main" val="3921295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8</a:t>
            </a:fld>
            <a:endParaRPr lang="en-US"/>
          </a:p>
        </p:txBody>
      </p:sp>
    </p:spTree>
    <p:extLst>
      <p:ext uri="{BB962C8B-B14F-4D97-AF65-F5344CB8AC3E}">
        <p14:creationId xmlns:p14="http://schemas.microsoft.com/office/powerpoint/2010/main" val="1943142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CD012E7B-A20F-4734-BFC8-9FEA5648A9AD}" type="slidenum">
              <a:rPr lang="en-US" smtClean="0"/>
              <a:t>9</a:t>
            </a:fld>
            <a:endParaRPr lang="en-US"/>
          </a:p>
        </p:txBody>
      </p:sp>
    </p:spTree>
    <p:extLst>
      <p:ext uri="{BB962C8B-B14F-4D97-AF65-F5344CB8AC3E}">
        <p14:creationId xmlns:p14="http://schemas.microsoft.com/office/powerpoint/2010/main" val="3754406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0" dirty="0"/>
          </a:p>
        </p:txBody>
      </p:sp>
      <p:sp>
        <p:nvSpPr>
          <p:cNvPr id="4" name="Slide Number Placeholder 3"/>
          <p:cNvSpPr>
            <a:spLocks noGrp="1"/>
          </p:cNvSpPr>
          <p:nvPr>
            <p:ph type="sldNum" sz="quarter" idx="5"/>
          </p:nvPr>
        </p:nvSpPr>
        <p:spPr/>
        <p:txBody>
          <a:bodyPr/>
          <a:lstStyle/>
          <a:p>
            <a:fld id="{CD012E7B-A20F-4734-BFC8-9FEA5648A9AD}" type="slidenum">
              <a:rPr lang="en-US" smtClean="0"/>
              <a:t>10</a:t>
            </a:fld>
            <a:endParaRPr lang="en-US"/>
          </a:p>
        </p:txBody>
      </p:sp>
    </p:spTree>
    <p:extLst>
      <p:ext uri="{BB962C8B-B14F-4D97-AF65-F5344CB8AC3E}">
        <p14:creationId xmlns:p14="http://schemas.microsoft.com/office/powerpoint/2010/main" val="2358077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11</a:t>
            </a:fld>
            <a:endParaRPr lang="en-US"/>
          </a:p>
        </p:txBody>
      </p:sp>
    </p:spTree>
    <p:extLst>
      <p:ext uri="{BB962C8B-B14F-4D97-AF65-F5344CB8AC3E}">
        <p14:creationId xmlns:p14="http://schemas.microsoft.com/office/powerpoint/2010/main" val="391761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D012E7B-A20F-4734-BFC8-9FEA5648A9AD}" type="slidenum">
              <a:rPr lang="en-US" smtClean="0"/>
              <a:t>12</a:t>
            </a:fld>
            <a:endParaRPr lang="en-US"/>
          </a:p>
        </p:txBody>
      </p:sp>
    </p:spTree>
    <p:extLst>
      <p:ext uri="{BB962C8B-B14F-4D97-AF65-F5344CB8AC3E}">
        <p14:creationId xmlns:p14="http://schemas.microsoft.com/office/powerpoint/2010/main" val="3411336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1859673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9746145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16373996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4229299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7F692B-E176-4DAC-AC9E-5F2C49D9213E}"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31888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59DC7B-DED9-4CD4-A845-5F5CF23704D1}"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8855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59DC7B-DED9-4CD4-A845-5F5CF23704D1}"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564510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159DC7B-DED9-4CD4-A845-5F5CF23704D1}" type="datetimeFigureOut">
              <a:rPr lang="en-US" smtClean="0"/>
              <a:t>4/30/2026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390048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159DC7B-DED9-4CD4-A845-5F5CF23704D1}" type="datetimeFigureOut">
              <a:rPr lang="en-US" smtClean="0"/>
              <a:t>4/30/2026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937980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179124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159DC7B-DED9-4CD4-A845-5F5CF23704D1}"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24046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0AA10-3B64-9C73-CFC9-662996817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434F93C-5537-C853-091A-3E806A8BAA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9693A8-09D4-10C1-9367-9B48B98A1D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3F642C-84DD-9C7A-D3ED-9FF302407E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23CEC6-652C-26BA-8882-67A03923E2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FBF743-728A-F7A0-1F12-89A849C404BC}"/>
              </a:ext>
            </a:extLst>
          </p:cNvPr>
          <p:cNvSpPr>
            <a:spLocks noGrp="1"/>
          </p:cNvSpPr>
          <p:nvPr>
            <p:ph type="dt" sz="half" idx="10"/>
          </p:nvPr>
        </p:nvSpPr>
        <p:spPr/>
        <p:txBody>
          <a:bodyPr/>
          <a:lstStyle/>
          <a:p>
            <a:fld id="{E159DC7B-DED9-4CD4-A845-5F5CF23704D1}" type="datetimeFigureOut">
              <a:rPr lang="en-US" smtClean="0"/>
              <a:t>4/30/2026</a:t>
            </a:fld>
            <a:endParaRPr lang="en-US"/>
          </a:p>
        </p:txBody>
      </p:sp>
      <p:sp>
        <p:nvSpPr>
          <p:cNvPr id="8" name="Footer Placeholder 7">
            <a:extLst>
              <a:ext uri="{FF2B5EF4-FFF2-40B4-BE49-F238E27FC236}">
                <a16:creationId xmlns:a16="http://schemas.microsoft.com/office/drawing/2014/main" id="{EE7F3D5E-4C35-B9FB-C576-5A25B16BE17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77455B-2E8B-AC40-B3E7-95576642CCDC}"/>
              </a:ext>
            </a:extLst>
          </p:cNvPr>
          <p:cNvSpPr>
            <a:spLocks noGrp="1"/>
          </p:cNvSpPr>
          <p:nvPr>
            <p:ph type="sldNum" sz="quarter" idx="12"/>
          </p:nvPr>
        </p:nvSpPr>
        <p:spPr/>
        <p:txBody>
          <a:bodyPr/>
          <a:lstStyle/>
          <a:p>
            <a:fld id="{847F692B-E176-4DAC-AC9E-5F2C49D9213E}" type="slidenum">
              <a:rPr lang="en-US" smtClean="0"/>
              <a:t>‹#›</a:t>
            </a:fld>
            <a:endParaRPr lang="en-US"/>
          </a:p>
        </p:txBody>
      </p:sp>
    </p:spTree>
    <p:extLst>
      <p:ext uri="{BB962C8B-B14F-4D97-AF65-F5344CB8AC3E}">
        <p14:creationId xmlns:p14="http://schemas.microsoft.com/office/powerpoint/2010/main" val="396495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159DC7B-DED9-4CD4-A845-5F5CF23704D1}" type="datetimeFigureOut">
              <a:rPr lang="en-US" smtClean="0"/>
              <a:t>4/30/2026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47F692B-E176-4DAC-AC9E-5F2C49D9213E}" type="slidenum">
              <a:rPr lang="en-US" smtClean="0"/>
              <a:t>‹#›</a:t>
            </a:fld>
            <a:endParaRPr lang="en-US"/>
          </a:p>
        </p:txBody>
      </p:sp>
    </p:spTree>
    <p:extLst>
      <p:ext uri="{BB962C8B-B14F-4D97-AF65-F5344CB8AC3E}">
        <p14:creationId xmlns:p14="http://schemas.microsoft.com/office/powerpoint/2010/main" val="2090519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enziesantarin/Capstone_1"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F78D2-AFC5-C86A-11EB-8456A923B98B}"/>
              </a:ext>
            </a:extLst>
          </p:cNvPr>
          <p:cNvSpPr>
            <a:spLocks noGrp="1"/>
          </p:cNvSpPr>
          <p:nvPr>
            <p:ph type="ctrTitle"/>
          </p:nvPr>
        </p:nvSpPr>
        <p:spPr>
          <a:xfrm>
            <a:off x="1600200" y="1088136"/>
            <a:ext cx="8991600" cy="1645920"/>
          </a:xfrm>
        </p:spPr>
        <p:txBody>
          <a:bodyPr/>
          <a:lstStyle/>
          <a:p>
            <a:r>
              <a:rPr lang="en-US"/>
              <a:t>Emporium</a:t>
            </a:r>
            <a:br>
              <a:rPr lang="en-US" dirty="0"/>
            </a:br>
            <a:r>
              <a:rPr lang="en-US" dirty="0"/>
              <a:t>sales analysis</a:t>
            </a:r>
          </a:p>
        </p:txBody>
      </p:sp>
      <p:sp>
        <p:nvSpPr>
          <p:cNvPr id="3" name="Subtitle 2">
            <a:extLst>
              <a:ext uri="{FF2B5EF4-FFF2-40B4-BE49-F238E27FC236}">
                <a16:creationId xmlns:a16="http://schemas.microsoft.com/office/drawing/2014/main" id="{667DB69B-E246-D0F0-555E-2362439047FE}"/>
              </a:ext>
            </a:extLst>
          </p:cNvPr>
          <p:cNvSpPr>
            <a:spLocks noGrp="1"/>
          </p:cNvSpPr>
          <p:nvPr>
            <p:ph type="subTitle" idx="1"/>
          </p:nvPr>
        </p:nvSpPr>
        <p:spPr>
          <a:xfrm>
            <a:off x="1254252" y="3054096"/>
            <a:ext cx="9683496" cy="2971800"/>
          </a:xfrm>
        </p:spPr>
        <p:txBody>
          <a:bodyPr>
            <a:normAutofit/>
          </a:bodyPr>
          <a:lstStyle/>
          <a:p>
            <a:r>
              <a:rPr lang="en-US" sz="2400" b="1" dirty="0"/>
              <a:t>Regional Director: </a:t>
            </a:r>
            <a:r>
              <a:rPr lang="en-US" sz="2400" dirty="0"/>
              <a:t>Andy Gisselquist</a:t>
            </a:r>
          </a:p>
          <a:p>
            <a:r>
              <a:rPr lang="en-US" sz="2400" b="1" dirty="0"/>
              <a:t>Sales Manager: </a:t>
            </a:r>
            <a:r>
              <a:rPr lang="en-US" sz="2400" dirty="0"/>
              <a:t>Lana Ilana</a:t>
            </a:r>
          </a:p>
          <a:p>
            <a:r>
              <a:rPr lang="en-US" sz="2400" b="1" dirty="0"/>
              <a:t>Territory: </a:t>
            </a:r>
            <a:r>
              <a:rPr lang="en-US" sz="2400" dirty="0"/>
              <a:t>Florida</a:t>
            </a:r>
          </a:p>
          <a:p>
            <a:r>
              <a:rPr lang="en-US" sz="2400" b="1" dirty="0"/>
              <a:t>Region: </a:t>
            </a:r>
            <a:r>
              <a:rPr lang="en-US" sz="2400" dirty="0"/>
              <a:t>South</a:t>
            </a:r>
          </a:p>
          <a:p>
            <a:endParaRPr lang="en-US" sz="2400" dirty="0"/>
          </a:p>
          <a:p>
            <a:r>
              <a:rPr lang="en-US" sz="2400" b="1" dirty="0"/>
              <a:t>Analysis by: </a:t>
            </a:r>
            <a:r>
              <a:rPr lang="en-US" sz="2400" dirty="0"/>
              <a:t>Marenza Santarin</a:t>
            </a:r>
          </a:p>
        </p:txBody>
      </p:sp>
    </p:spTree>
    <p:extLst>
      <p:ext uri="{BB962C8B-B14F-4D97-AF65-F5344CB8AC3E}">
        <p14:creationId xmlns:p14="http://schemas.microsoft.com/office/powerpoint/2010/main" val="319665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B01E8-B568-1EFA-419D-9152D52315E2}"/>
              </a:ext>
            </a:extLst>
          </p:cNvPr>
          <p:cNvSpPr>
            <a:spLocks noGrp="1"/>
          </p:cNvSpPr>
          <p:nvPr>
            <p:ph type="title"/>
          </p:nvPr>
        </p:nvSpPr>
        <p:spPr>
          <a:xfrm>
            <a:off x="2231136" y="859535"/>
            <a:ext cx="7729728" cy="1188720"/>
          </a:xfrm>
        </p:spPr>
        <p:txBody>
          <a:bodyPr/>
          <a:lstStyle/>
          <a:p>
            <a:r>
              <a:rPr lang="en-US" dirty="0"/>
              <a:t>Introduction</a:t>
            </a:r>
          </a:p>
        </p:txBody>
      </p:sp>
      <p:sp>
        <p:nvSpPr>
          <p:cNvPr id="3" name="Content Placeholder 2">
            <a:extLst>
              <a:ext uri="{FF2B5EF4-FFF2-40B4-BE49-F238E27FC236}">
                <a16:creationId xmlns:a16="http://schemas.microsoft.com/office/drawing/2014/main" id="{10D82374-91D6-F78D-55FC-2C07836B9E5C}"/>
              </a:ext>
            </a:extLst>
          </p:cNvPr>
          <p:cNvSpPr>
            <a:spLocks noGrp="1"/>
          </p:cNvSpPr>
          <p:nvPr>
            <p:ph idx="1"/>
          </p:nvPr>
        </p:nvSpPr>
        <p:spPr>
          <a:xfrm>
            <a:off x="2383536" y="2583181"/>
            <a:ext cx="7424928" cy="2665476"/>
          </a:xfrm>
        </p:spPr>
        <p:txBody>
          <a:bodyPr>
            <a:normAutofit/>
          </a:bodyPr>
          <a:lstStyle/>
          <a:p>
            <a:pPr marL="0" indent="0" algn="just">
              <a:buNone/>
            </a:pPr>
            <a:r>
              <a:rPr lang="en-US" sz="2400" dirty="0"/>
              <a:t>This project analyzes sales performance for the Florida territory managed by Lana Ilana. Using SQL and Excel, I examined key data aspects: total revenue, monthly trends, regional performance, product categories, and store-level results. The goal is to identify meaningful patterns and insights to guide data-driven decisions and highlight opportunities to improve sales performance next quarter.</a:t>
            </a:r>
          </a:p>
        </p:txBody>
      </p:sp>
    </p:spTree>
    <p:extLst>
      <p:ext uri="{BB962C8B-B14F-4D97-AF65-F5344CB8AC3E}">
        <p14:creationId xmlns:p14="http://schemas.microsoft.com/office/powerpoint/2010/main" val="410273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34A7-8080-CBDA-D5DA-DC875927A7D9}"/>
              </a:ext>
            </a:extLst>
          </p:cNvPr>
          <p:cNvSpPr>
            <a:spLocks noGrp="1"/>
          </p:cNvSpPr>
          <p:nvPr>
            <p:ph type="title"/>
          </p:nvPr>
        </p:nvSpPr>
        <p:spPr>
          <a:xfrm>
            <a:off x="2231136" y="832104"/>
            <a:ext cx="7729728" cy="1024128"/>
          </a:xfrm>
        </p:spPr>
        <p:txBody>
          <a:bodyPr>
            <a:normAutofit/>
          </a:bodyPr>
          <a:lstStyle/>
          <a:p>
            <a:r>
              <a:rPr lang="en-US" dirty="0"/>
              <a:t>Sales Analysis</a:t>
            </a:r>
          </a:p>
        </p:txBody>
      </p:sp>
      <p:sp>
        <p:nvSpPr>
          <p:cNvPr id="3" name="Content Placeholder 2">
            <a:extLst>
              <a:ext uri="{FF2B5EF4-FFF2-40B4-BE49-F238E27FC236}">
                <a16:creationId xmlns:a16="http://schemas.microsoft.com/office/drawing/2014/main" id="{F7D12227-F742-B5FE-802D-13CBC09F6CF8}"/>
              </a:ext>
            </a:extLst>
          </p:cNvPr>
          <p:cNvSpPr>
            <a:spLocks noGrp="1"/>
          </p:cNvSpPr>
          <p:nvPr>
            <p:ph idx="1"/>
          </p:nvPr>
        </p:nvSpPr>
        <p:spPr>
          <a:xfrm>
            <a:off x="1467612" y="2107692"/>
            <a:ext cx="9256776" cy="3753612"/>
          </a:xfrm>
        </p:spPr>
        <p:txBody>
          <a:bodyPr>
            <a:noAutofit/>
          </a:bodyPr>
          <a:lstStyle/>
          <a:p>
            <a:pPr marL="514350" indent="-514350">
              <a:buFont typeface="+mj-lt"/>
              <a:buAutoNum type="arabicPeriod"/>
            </a:pPr>
            <a:r>
              <a:rPr lang="en-US" dirty="0"/>
              <a:t>What is total revenue overall for sales in the assigned territory, plus the start date and end date that tell you what period the data covers?</a:t>
            </a:r>
          </a:p>
          <a:p>
            <a:pPr marL="514350" indent="-514350">
              <a:buFont typeface="+mj-lt"/>
              <a:buAutoNum type="arabicPeriod"/>
            </a:pPr>
            <a:r>
              <a:rPr lang="en-US" dirty="0"/>
              <a:t>What is the month-by-month revenue breakdown for the sales territory?</a:t>
            </a:r>
          </a:p>
          <a:p>
            <a:pPr marL="514350" indent="-514350">
              <a:buFont typeface="+mj-lt"/>
              <a:buAutoNum type="arabicPeriod"/>
            </a:pPr>
            <a:r>
              <a:rPr lang="en-US" dirty="0"/>
              <a:t>Provide a comparison of total revenue for the specific sales territory and the region it belongs to.</a:t>
            </a:r>
          </a:p>
          <a:p>
            <a:pPr marL="514350" indent="-514350">
              <a:buFont typeface="+mj-lt"/>
              <a:buAutoNum type="arabicPeriod"/>
            </a:pPr>
            <a:r>
              <a:rPr lang="en-US" dirty="0"/>
              <a:t>What is the number of transactions per month and average transaction size by product category for the sales territory? </a:t>
            </a:r>
          </a:p>
          <a:p>
            <a:pPr marL="514350" indent="-514350">
              <a:buFont typeface="+mj-lt"/>
              <a:buAutoNum type="arabicPeriod"/>
            </a:pPr>
            <a:r>
              <a:rPr lang="en-US" dirty="0"/>
              <a:t>Can you provide a ranking of in-store sales performance by each store in the sales territory, or a ranking of online sales performance by state within an online sales territory? </a:t>
            </a:r>
          </a:p>
          <a:p>
            <a:pPr marL="514350" indent="-514350">
              <a:buFont typeface="+mj-lt"/>
              <a:buAutoNum type="arabicPeriod"/>
            </a:pPr>
            <a:r>
              <a:rPr lang="en-US" dirty="0"/>
              <a:t> What is your recommendation for where to focus sales attention in the next quarter? </a:t>
            </a:r>
          </a:p>
          <a:p>
            <a:endParaRPr lang="en-US" dirty="0"/>
          </a:p>
        </p:txBody>
      </p:sp>
    </p:spTree>
    <p:extLst>
      <p:ext uri="{BB962C8B-B14F-4D97-AF65-F5344CB8AC3E}">
        <p14:creationId xmlns:p14="http://schemas.microsoft.com/office/powerpoint/2010/main" val="3663634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A0E91-312C-34E9-963E-1C7A9B0385D4}"/>
              </a:ext>
            </a:extLst>
          </p:cNvPr>
          <p:cNvSpPr>
            <a:spLocks noGrp="1"/>
          </p:cNvSpPr>
          <p:nvPr>
            <p:ph type="title"/>
          </p:nvPr>
        </p:nvSpPr>
        <p:spPr>
          <a:xfrm>
            <a:off x="838200" y="578438"/>
            <a:ext cx="10515600" cy="1325563"/>
          </a:xfrm>
        </p:spPr>
        <p:txBody>
          <a:bodyPr>
            <a:noAutofit/>
          </a:bodyPr>
          <a:lstStyle/>
          <a:p>
            <a:pPr algn="l"/>
            <a:r>
              <a:rPr lang="en-US" sz="2000" dirty="0"/>
              <a:t>What is total revenue overall for sales in the assigned territory, plus the start date and end date that tell you what period the data covers?</a:t>
            </a:r>
          </a:p>
        </p:txBody>
      </p:sp>
      <p:sp>
        <p:nvSpPr>
          <p:cNvPr id="5" name="Text Placeholder 4">
            <a:extLst>
              <a:ext uri="{FF2B5EF4-FFF2-40B4-BE49-F238E27FC236}">
                <a16:creationId xmlns:a16="http://schemas.microsoft.com/office/drawing/2014/main" id="{950A2904-CD47-DF5A-23C4-AB9FC3F1EF71}"/>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A6A17D49-DA47-D518-8041-51F48ED8F38C}"/>
              </a:ext>
            </a:extLst>
          </p:cNvPr>
          <p:cNvPicPr>
            <a:picLocks noGrp="1" noChangeAspect="1"/>
          </p:cNvPicPr>
          <p:nvPr>
            <p:ph sz="half" idx="2"/>
          </p:nvPr>
        </p:nvPicPr>
        <p:blipFill>
          <a:blip r:embed="rId3"/>
          <a:stretch>
            <a:fillRect/>
          </a:stretch>
        </p:blipFill>
        <p:spPr>
          <a:xfrm>
            <a:off x="836612" y="2628489"/>
            <a:ext cx="5160963" cy="1325563"/>
          </a:xfrm>
          <a:prstGeom prst="rect">
            <a:avLst/>
          </a:prstGeom>
        </p:spPr>
      </p:pic>
      <p:sp>
        <p:nvSpPr>
          <p:cNvPr id="7" name="Text Placeholder 6">
            <a:extLst>
              <a:ext uri="{FF2B5EF4-FFF2-40B4-BE49-F238E27FC236}">
                <a16:creationId xmlns:a16="http://schemas.microsoft.com/office/drawing/2014/main" id="{6A614EF3-EC45-20D1-8DF4-6C10ACC4A636}"/>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9CDCF4C7-2C05-0BD6-86C4-DEAC6A4312A1}"/>
              </a:ext>
            </a:extLst>
          </p:cNvPr>
          <p:cNvPicPr>
            <a:picLocks noGrp="1" noChangeAspect="1"/>
          </p:cNvPicPr>
          <p:nvPr>
            <p:ph sz="quarter" idx="4"/>
          </p:nvPr>
        </p:nvPicPr>
        <p:blipFill>
          <a:blip r:embed="rId4"/>
          <a:stretch>
            <a:fillRect/>
          </a:stretch>
        </p:blipFill>
        <p:spPr>
          <a:xfrm>
            <a:off x="6172200" y="2628489"/>
            <a:ext cx="5183188" cy="3159663"/>
          </a:xfrm>
          <a:prstGeom prst="rect">
            <a:avLst/>
          </a:prstGeom>
        </p:spPr>
      </p:pic>
    </p:spTree>
    <p:extLst>
      <p:ext uri="{BB962C8B-B14F-4D97-AF65-F5344CB8AC3E}">
        <p14:creationId xmlns:p14="http://schemas.microsoft.com/office/powerpoint/2010/main" val="334583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D2D70-70CA-ECE6-781C-1EB7FE3EB96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EFA1589-F1C3-B2FF-5E37-0B6FACC89FC3}"/>
              </a:ext>
            </a:extLst>
          </p:cNvPr>
          <p:cNvSpPr>
            <a:spLocks noGrp="1"/>
          </p:cNvSpPr>
          <p:nvPr>
            <p:ph type="title"/>
          </p:nvPr>
        </p:nvSpPr>
        <p:spPr>
          <a:xfrm>
            <a:off x="838200" y="606426"/>
            <a:ext cx="10515600" cy="1325563"/>
          </a:xfrm>
        </p:spPr>
        <p:txBody>
          <a:bodyPr>
            <a:noAutofit/>
          </a:bodyPr>
          <a:lstStyle/>
          <a:p>
            <a:pPr algn="l"/>
            <a:r>
              <a:rPr lang="en-US" sz="2000" dirty="0"/>
              <a:t>What is the month-by-month revenue breakdown for the sales territory? </a:t>
            </a:r>
          </a:p>
        </p:txBody>
      </p:sp>
      <p:sp>
        <p:nvSpPr>
          <p:cNvPr id="5" name="Text Placeholder 4">
            <a:extLst>
              <a:ext uri="{FF2B5EF4-FFF2-40B4-BE49-F238E27FC236}">
                <a16:creationId xmlns:a16="http://schemas.microsoft.com/office/drawing/2014/main" id="{54463F80-0CCA-B00A-2C9B-BA3F0A34CF61}"/>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22772E88-D62B-850D-D5B5-38AE8B34481F}"/>
              </a:ext>
            </a:extLst>
          </p:cNvPr>
          <p:cNvPicPr>
            <a:picLocks noGrp="1" noChangeAspect="1"/>
          </p:cNvPicPr>
          <p:nvPr>
            <p:ph sz="half" idx="2"/>
          </p:nvPr>
        </p:nvPicPr>
        <p:blipFill>
          <a:blip r:embed="rId3"/>
          <a:stretch>
            <a:fillRect/>
          </a:stretch>
        </p:blipFill>
        <p:spPr>
          <a:xfrm>
            <a:off x="836612" y="2505075"/>
            <a:ext cx="3534220" cy="3774764"/>
          </a:xfrm>
          <a:prstGeom prst="rect">
            <a:avLst/>
          </a:prstGeom>
        </p:spPr>
      </p:pic>
      <p:sp>
        <p:nvSpPr>
          <p:cNvPr id="7" name="Text Placeholder 6">
            <a:extLst>
              <a:ext uri="{FF2B5EF4-FFF2-40B4-BE49-F238E27FC236}">
                <a16:creationId xmlns:a16="http://schemas.microsoft.com/office/drawing/2014/main" id="{F33739D1-0B74-8131-4AE4-A3D2812ED59D}"/>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EBC3A88B-C254-B05E-CD50-E415D9996811}"/>
              </a:ext>
            </a:extLst>
          </p:cNvPr>
          <p:cNvPicPr>
            <a:picLocks noGrp="1" noChangeAspect="1"/>
          </p:cNvPicPr>
          <p:nvPr>
            <p:ph sz="quarter" idx="4"/>
          </p:nvPr>
        </p:nvPicPr>
        <p:blipFill>
          <a:blip r:embed="rId4"/>
          <a:stretch>
            <a:fillRect/>
          </a:stretch>
        </p:blipFill>
        <p:spPr>
          <a:xfrm>
            <a:off x="6172200" y="2505076"/>
            <a:ext cx="5149783" cy="2844164"/>
          </a:xfrm>
          <a:prstGeom prst="rect">
            <a:avLst/>
          </a:prstGeom>
        </p:spPr>
      </p:pic>
    </p:spTree>
    <p:extLst>
      <p:ext uri="{BB962C8B-B14F-4D97-AF65-F5344CB8AC3E}">
        <p14:creationId xmlns:p14="http://schemas.microsoft.com/office/powerpoint/2010/main" val="3213898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256C8-6EC8-4A9B-9F67-C1DC0B239E5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9E52E67-DEC4-BA06-18E9-D7972F56C88D}"/>
              </a:ext>
            </a:extLst>
          </p:cNvPr>
          <p:cNvSpPr>
            <a:spLocks noGrp="1"/>
          </p:cNvSpPr>
          <p:nvPr>
            <p:ph type="title"/>
          </p:nvPr>
        </p:nvSpPr>
        <p:spPr>
          <a:xfrm>
            <a:off x="838200" y="621157"/>
            <a:ext cx="10515600" cy="1325563"/>
          </a:xfrm>
        </p:spPr>
        <p:txBody>
          <a:bodyPr>
            <a:noAutofit/>
          </a:bodyPr>
          <a:lstStyle/>
          <a:p>
            <a:pPr algn="l"/>
            <a:r>
              <a:rPr lang="en-US" sz="2000" dirty="0"/>
              <a:t>Provide a comparison of total revenue for the specific sales territory and the region it belongs to. </a:t>
            </a:r>
          </a:p>
        </p:txBody>
      </p:sp>
      <p:sp>
        <p:nvSpPr>
          <p:cNvPr id="5" name="Text Placeholder 4">
            <a:extLst>
              <a:ext uri="{FF2B5EF4-FFF2-40B4-BE49-F238E27FC236}">
                <a16:creationId xmlns:a16="http://schemas.microsoft.com/office/drawing/2014/main" id="{2574CE91-5525-1ABC-D10A-C5FA3B97C00E}"/>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D0175560-BC86-A277-9F3A-7A83AEE7DAB5}"/>
              </a:ext>
            </a:extLst>
          </p:cNvPr>
          <p:cNvPicPr>
            <a:picLocks noGrp="1" noChangeAspect="1"/>
          </p:cNvPicPr>
          <p:nvPr>
            <p:ph sz="half" idx="2"/>
          </p:nvPr>
        </p:nvPicPr>
        <p:blipFill>
          <a:blip r:embed="rId3"/>
          <a:stretch>
            <a:fillRect/>
          </a:stretch>
        </p:blipFill>
        <p:spPr>
          <a:xfrm>
            <a:off x="836613" y="2470124"/>
            <a:ext cx="5157786" cy="1658583"/>
          </a:xfrm>
          <a:prstGeom prst="rect">
            <a:avLst/>
          </a:prstGeom>
        </p:spPr>
      </p:pic>
      <p:sp>
        <p:nvSpPr>
          <p:cNvPr id="7" name="Text Placeholder 6">
            <a:extLst>
              <a:ext uri="{FF2B5EF4-FFF2-40B4-BE49-F238E27FC236}">
                <a16:creationId xmlns:a16="http://schemas.microsoft.com/office/drawing/2014/main" id="{204DBED5-B1DA-010B-90A4-F91E1DE1515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8A2B0DE6-4265-6711-3544-7BF3ED361FB9}"/>
              </a:ext>
            </a:extLst>
          </p:cNvPr>
          <p:cNvPicPr>
            <a:picLocks noGrp="1" noChangeAspect="1"/>
          </p:cNvPicPr>
          <p:nvPr>
            <p:ph sz="quarter" idx="4"/>
          </p:nvPr>
        </p:nvPicPr>
        <p:blipFill>
          <a:blip r:embed="rId4"/>
          <a:stretch>
            <a:fillRect/>
          </a:stretch>
        </p:blipFill>
        <p:spPr>
          <a:xfrm>
            <a:off x="6194427" y="2470124"/>
            <a:ext cx="5157785" cy="2915692"/>
          </a:xfrm>
          <a:prstGeom prst="rect">
            <a:avLst/>
          </a:prstGeom>
        </p:spPr>
      </p:pic>
    </p:spTree>
    <p:extLst>
      <p:ext uri="{BB962C8B-B14F-4D97-AF65-F5344CB8AC3E}">
        <p14:creationId xmlns:p14="http://schemas.microsoft.com/office/powerpoint/2010/main" val="414792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00FA9-CDF8-75B2-E92A-4F097CB55D9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CFA274C-F9BA-9031-1DB3-A9430AACE3B4}"/>
              </a:ext>
            </a:extLst>
          </p:cNvPr>
          <p:cNvSpPr>
            <a:spLocks noGrp="1"/>
          </p:cNvSpPr>
          <p:nvPr>
            <p:ph type="title"/>
          </p:nvPr>
        </p:nvSpPr>
        <p:spPr>
          <a:xfrm>
            <a:off x="838200" y="522035"/>
            <a:ext cx="10515600" cy="1325563"/>
          </a:xfrm>
        </p:spPr>
        <p:txBody>
          <a:bodyPr>
            <a:noAutofit/>
          </a:bodyPr>
          <a:lstStyle/>
          <a:p>
            <a:pPr algn="l"/>
            <a:r>
              <a:rPr lang="en-US" sz="2000" dirty="0"/>
              <a:t>What is the number of transactions per month and average transaction size by product category for the sales territory? </a:t>
            </a:r>
          </a:p>
        </p:txBody>
      </p:sp>
      <p:sp>
        <p:nvSpPr>
          <p:cNvPr id="5" name="Text Placeholder 4">
            <a:extLst>
              <a:ext uri="{FF2B5EF4-FFF2-40B4-BE49-F238E27FC236}">
                <a16:creationId xmlns:a16="http://schemas.microsoft.com/office/drawing/2014/main" id="{398A8A28-295C-4DB3-ECD4-B81ED17DFBE5}"/>
              </a:ext>
            </a:extLst>
          </p:cNvPr>
          <p:cNvSpPr>
            <a:spLocks noGrp="1"/>
          </p:cNvSpPr>
          <p:nvPr>
            <p:ph type="body" idx="1"/>
          </p:nvPr>
        </p:nvSpPr>
        <p:spPr/>
        <p:txBody>
          <a:bodyPr/>
          <a:lstStyle/>
          <a:p>
            <a:r>
              <a:rPr lang="en-US" dirty="0"/>
              <a:t>Result</a:t>
            </a:r>
          </a:p>
        </p:txBody>
      </p:sp>
      <p:sp>
        <p:nvSpPr>
          <p:cNvPr id="7" name="Text Placeholder 6">
            <a:extLst>
              <a:ext uri="{FF2B5EF4-FFF2-40B4-BE49-F238E27FC236}">
                <a16:creationId xmlns:a16="http://schemas.microsoft.com/office/drawing/2014/main" id="{399A4A8D-D02D-5615-3116-81116EA08D0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DF69600A-9B08-F656-58C5-8543038D6A74}"/>
              </a:ext>
            </a:extLst>
          </p:cNvPr>
          <p:cNvPicPr>
            <a:picLocks noGrp="1" noChangeAspect="1"/>
          </p:cNvPicPr>
          <p:nvPr>
            <p:ph sz="quarter" idx="4"/>
          </p:nvPr>
        </p:nvPicPr>
        <p:blipFill>
          <a:blip r:embed="rId3"/>
          <a:stretch>
            <a:fillRect/>
          </a:stretch>
        </p:blipFill>
        <p:spPr>
          <a:xfrm>
            <a:off x="6194427" y="2505074"/>
            <a:ext cx="5157785" cy="3684587"/>
          </a:xfrm>
          <a:prstGeom prst="rect">
            <a:avLst/>
          </a:prstGeom>
        </p:spPr>
      </p:pic>
      <p:pic>
        <p:nvPicPr>
          <p:cNvPr id="14" name="Content Placeholder 13">
            <a:extLst>
              <a:ext uri="{FF2B5EF4-FFF2-40B4-BE49-F238E27FC236}">
                <a16:creationId xmlns:a16="http://schemas.microsoft.com/office/drawing/2014/main" id="{6CB5CB7C-917E-12BB-E9C5-BA22B507CF36}"/>
              </a:ext>
            </a:extLst>
          </p:cNvPr>
          <p:cNvPicPr>
            <a:picLocks noGrp="1" noChangeAspect="1"/>
          </p:cNvPicPr>
          <p:nvPr>
            <p:ph sz="half" idx="2"/>
          </p:nvPr>
        </p:nvPicPr>
        <p:blipFill>
          <a:blip r:embed="rId4"/>
          <a:stretch>
            <a:fillRect/>
          </a:stretch>
        </p:blipFill>
        <p:spPr>
          <a:xfrm>
            <a:off x="836611" y="2505073"/>
            <a:ext cx="5157785" cy="3684587"/>
          </a:xfrm>
          <a:prstGeom prst="rect">
            <a:avLst/>
          </a:prstGeom>
        </p:spPr>
      </p:pic>
    </p:spTree>
    <p:extLst>
      <p:ext uri="{BB962C8B-B14F-4D97-AF65-F5344CB8AC3E}">
        <p14:creationId xmlns:p14="http://schemas.microsoft.com/office/powerpoint/2010/main" val="72814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03DD-5EF9-03CA-2147-2C6C1632C25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D23F294-63A0-E7F3-6A95-7E8E1AFBEE68}"/>
              </a:ext>
            </a:extLst>
          </p:cNvPr>
          <p:cNvSpPr>
            <a:spLocks noGrp="1"/>
          </p:cNvSpPr>
          <p:nvPr>
            <p:ph type="title"/>
          </p:nvPr>
        </p:nvSpPr>
        <p:spPr>
          <a:xfrm>
            <a:off x="838199" y="538861"/>
            <a:ext cx="10515600" cy="1325563"/>
          </a:xfrm>
        </p:spPr>
        <p:txBody>
          <a:bodyPr>
            <a:noAutofit/>
          </a:bodyPr>
          <a:lstStyle/>
          <a:p>
            <a:pPr algn="l"/>
            <a:r>
              <a:rPr lang="en-US" sz="2000" dirty="0"/>
              <a:t>Can you provide a ranking of in-store sales performance by each store in the sales territory, or a ranking of online sales performance by state within an online sales territory? </a:t>
            </a:r>
          </a:p>
        </p:txBody>
      </p:sp>
      <p:sp>
        <p:nvSpPr>
          <p:cNvPr id="5" name="Text Placeholder 4">
            <a:extLst>
              <a:ext uri="{FF2B5EF4-FFF2-40B4-BE49-F238E27FC236}">
                <a16:creationId xmlns:a16="http://schemas.microsoft.com/office/drawing/2014/main" id="{21BB7D5B-F11A-2179-AB5C-2015F0E4D66A}"/>
              </a:ext>
            </a:extLst>
          </p:cNvPr>
          <p:cNvSpPr>
            <a:spLocks noGrp="1"/>
          </p:cNvSpPr>
          <p:nvPr>
            <p:ph type="body" idx="1"/>
          </p:nvPr>
        </p:nvSpPr>
        <p:spPr/>
        <p:txBody>
          <a:bodyPr/>
          <a:lstStyle/>
          <a:p>
            <a:r>
              <a:rPr lang="en-US" dirty="0"/>
              <a:t>Result</a:t>
            </a:r>
          </a:p>
        </p:txBody>
      </p:sp>
      <p:pic>
        <p:nvPicPr>
          <p:cNvPr id="10" name="Content Placeholder 9">
            <a:extLst>
              <a:ext uri="{FF2B5EF4-FFF2-40B4-BE49-F238E27FC236}">
                <a16:creationId xmlns:a16="http://schemas.microsoft.com/office/drawing/2014/main" id="{22544366-D659-0278-C8CC-2457BF794A22}"/>
              </a:ext>
            </a:extLst>
          </p:cNvPr>
          <p:cNvPicPr>
            <a:picLocks noGrp="1" noChangeAspect="1"/>
          </p:cNvPicPr>
          <p:nvPr>
            <p:ph sz="half" idx="2"/>
          </p:nvPr>
        </p:nvPicPr>
        <p:blipFill>
          <a:blip r:embed="rId3"/>
          <a:stretch>
            <a:fillRect/>
          </a:stretch>
        </p:blipFill>
        <p:spPr>
          <a:xfrm>
            <a:off x="836610" y="2505075"/>
            <a:ext cx="5259389" cy="2963038"/>
          </a:xfrm>
          <a:prstGeom prst="rect">
            <a:avLst/>
          </a:prstGeom>
        </p:spPr>
      </p:pic>
      <p:sp>
        <p:nvSpPr>
          <p:cNvPr id="7" name="Text Placeholder 6">
            <a:extLst>
              <a:ext uri="{FF2B5EF4-FFF2-40B4-BE49-F238E27FC236}">
                <a16:creationId xmlns:a16="http://schemas.microsoft.com/office/drawing/2014/main" id="{ADBF1932-D49E-554A-1C5A-BC84EAACFC77}"/>
              </a:ext>
            </a:extLst>
          </p:cNvPr>
          <p:cNvSpPr>
            <a:spLocks noGrp="1"/>
          </p:cNvSpPr>
          <p:nvPr>
            <p:ph type="body" sz="quarter" idx="3"/>
          </p:nvPr>
        </p:nvSpPr>
        <p:spPr/>
        <p:txBody>
          <a:bodyPr/>
          <a:lstStyle/>
          <a:p>
            <a:r>
              <a:rPr lang="en-US" dirty="0"/>
              <a:t>Query</a:t>
            </a:r>
          </a:p>
        </p:txBody>
      </p:sp>
      <p:pic>
        <p:nvPicPr>
          <p:cNvPr id="3" name="Content Placeholder 2">
            <a:extLst>
              <a:ext uri="{FF2B5EF4-FFF2-40B4-BE49-F238E27FC236}">
                <a16:creationId xmlns:a16="http://schemas.microsoft.com/office/drawing/2014/main" id="{A2A84BB8-9FE3-2924-5161-A207E4905775}"/>
              </a:ext>
            </a:extLst>
          </p:cNvPr>
          <p:cNvPicPr>
            <a:picLocks noGrp="1" noChangeAspect="1"/>
          </p:cNvPicPr>
          <p:nvPr>
            <p:ph sz="quarter" idx="4"/>
          </p:nvPr>
        </p:nvPicPr>
        <p:blipFill>
          <a:blip r:embed="rId4"/>
          <a:stretch>
            <a:fillRect/>
          </a:stretch>
        </p:blipFill>
        <p:spPr>
          <a:xfrm>
            <a:off x="6194426" y="2505075"/>
            <a:ext cx="5157785" cy="3328797"/>
          </a:xfrm>
          <a:prstGeom prst="rect">
            <a:avLst/>
          </a:prstGeom>
        </p:spPr>
      </p:pic>
    </p:spTree>
    <p:extLst>
      <p:ext uri="{BB962C8B-B14F-4D97-AF65-F5344CB8AC3E}">
        <p14:creationId xmlns:p14="http://schemas.microsoft.com/office/powerpoint/2010/main" val="393633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E0F3FFFB-E8E1-9E36-19DC-37F7F108D21B}"/>
              </a:ext>
            </a:extLst>
          </p:cNvPr>
          <p:cNvPicPr>
            <a:picLocks noGrp="1" noChangeAspect="1"/>
          </p:cNvPicPr>
          <p:nvPr>
            <p:ph sz="half" idx="2"/>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51848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74D9A-5C83-5EAA-3D5F-C0ACEC008DF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1E9130-D7A2-EAFF-5930-140945D88416}"/>
              </a:ext>
            </a:extLst>
          </p:cNvPr>
          <p:cNvSpPr>
            <a:spLocks noGrp="1"/>
          </p:cNvSpPr>
          <p:nvPr>
            <p:ph type="title"/>
          </p:nvPr>
        </p:nvSpPr>
        <p:spPr>
          <a:xfrm>
            <a:off x="824484" y="453006"/>
            <a:ext cx="10543032" cy="747742"/>
          </a:xfrm>
        </p:spPr>
        <p:txBody>
          <a:bodyPr>
            <a:noAutofit/>
          </a:bodyPr>
          <a:lstStyle/>
          <a:p>
            <a:pPr algn="l"/>
            <a:r>
              <a:rPr lang="en-US" sz="2000" dirty="0"/>
              <a:t>What is your recommendation for where to focus sales attention in the next quarter? </a:t>
            </a:r>
          </a:p>
        </p:txBody>
      </p:sp>
      <p:sp>
        <p:nvSpPr>
          <p:cNvPr id="33" name="Content Placeholder 31">
            <a:extLst>
              <a:ext uri="{FF2B5EF4-FFF2-40B4-BE49-F238E27FC236}">
                <a16:creationId xmlns:a16="http://schemas.microsoft.com/office/drawing/2014/main" id="{C0226A51-76F2-DFA4-1FB4-FA29919B5530}"/>
              </a:ext>
            </a:extLst>
          </p:cNvPr>
          <p:cNvSpPr txBox="1">
            <a:spLocks/>
          </p:cNvSpPr>
          <p:nvPr/>
        </p:nvSpPr>
        <p:spPr>
          <a:xfrm>
            <a:off x="824484" y="2682471"/>
            <a:ext cx="3118866" cy="457200"/>
          </a:xfrm>
          <a:prstGeom prst="rect">
            <a:avLst/>
          </a:prstGeom>
          <a:no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None/>
            </a:pPr>
            <a:r>
              <a:rPr lang="en-US" sz="2400" dirty="0"/>
              <a:t>RECOMMENDATION:</a:t>
            </a:r>
            <a:endParaRPr lang="en-US" dirty="0"/>
          </a:p>
          <a:p>
            <a:endParaRPr lang="en-US" dirty="0"/>
          </a:p>
        </p:txBody>
      </p:sp>
      <p:sp>
        <p:nvSpPr>
          <p:cNvPr id="35" name="TextBox 34">
            <a:extLst>
              <a:ext uri="{FF2B5EF4-FFF2-40B4-BE49-F238E27FC236}">
                <a16:creationId xmlns:a16="http://schemas.microsoft.com/office/drawing/2014/main" id="{C129ADA5-804B-C36A-2242-C00AAE7723E9}"/>
              </a:ext>
            </a:extLst>
          </p:cNvPr>
          <p:cNvSpPr txBox="1"/>
          <p:nvPr/>
        </p:nvSpPr>
        <p:spPr>
          <a:xfrm>
            <a:off x="824484" y="1315844"/>
            <a:ext cx="1575816" cy="457200"/>
          </a:xfrm>
          <a:prstGeom prst="rect">
            <a:avLst/>
          </a:prstGeom>
          <a:noFill/>
          <a:ln w="28575">
            <a:noFill/>
          </a:ln>
        </p:spPr>
        <p:txBody>
          <a:bodyPr wrap="square" rtlCol="0">
            <a:spAutoFit/>
          </a:bodyPr>
          <a:lstStyle/>
          <a:p>
            <a:r>
              <a:rPr lang="en-US" sz="2400" dirty="0"/>
              <a:t>INSIGHTS:</a:t>
            </a:r>
          </a:p>
        </p:txBody>
      </p:sp>
      <p:sp>
        <p:nvSpPr>
          <p:cNvPr id="38" name="Content Placeholder 31">
            <a:extLst>
              <a:ext uri="{FF2B5EF4-FFF2-40B4-BE49-F238E27FC236}">
                <a16:creationId xmlns:a16="http://schemas.microsoft.com/office/drawing/2014/main" id="{510D8761-1D38-C91D-DD20-9941579A595B}"/>
              </a:ext>
            </a:extLst>
          </p:cNvPr>
          <p:cNvSpPr txBox="1">
            <a:spLocks/>
          </p:cNvSpPr>
          <p:nvPr/>
        </p:nvSpPr>
        <p:spPr>
          <a:xfrm>
            <a:off x="824484" y="1888140"/>
            <a:ext cx="2815590"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Revenue is strong but inconsistent.</a:t>
            </a:r>
          </a:p>
        </p:txBody>
      </p:sp>
      <p:sp>
        <p:nvSpPr>
          <p:cNvPr id="40" name="Content Placeholder 31">
            <a:extLst>
              <a:ext uri="{FF2B5EF4-FFF2-40B4-BE49-F238E27FC236}">
                <a16:creationId xmlns:a16="http://schemas.microsoft.com/office/drawing/2014/main" id="{9D6C9B3A-C93E-A3B9-C03A-3505413EE896}"/>
              </a:ext>
            </a:extLst>
          </p:cNvPr>
          <p:cNvSpPr txBox="1">
            <a:spLocks/>
          </p:cNvSpPr>
          <p:nvPr/>
        </p:nvSpPr>
        <p:spPr>
          <a:xfrm>
            <a:off x="3753231" y="1888140"/>
            <a:ext cx="3750564"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ctr"/>
            <a:r>
              <a:rPr lang="en-US" dirty="0"/>
              <a:t>Growth is driven by one product category.</a:t>
            </a:r>
          </a:p>
        </p:txBody>
      </p:sp>
      <p:sp>
        <p:nvSpPr>
          <p:cNvPr id="41" name="Content Placeholder 31">
            <a:extLst>
              <a:ext uri="{FF2B5EF4-FFF2-40B4-BE49-F238E27FC236}">
                <a16:creationId xmlns:a16="http://schemas.microsoft.com/office/drawing/2014/main" id="{20082934-5011-F113-0183-BD8427650E6C}"/>
              </a:ext>
            </a:extLst>
          </p:cNvPr>
          <p:cNvSpPr txBox="1">
            <a:spLocks/>
          </p:cNvSpPr>
          <p:nvPr/>
        </p:nvSpPr>
        <p:spPr>
          <a:xfrm>
            <a:off x="7616952" y="1888139"/>
            <a:ext cx="3750564" cy="673008"/>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lgn="ctr"/>
            <a:r>
              <a:rPr lang="en-US" dirty="0"/>
              <a:t>Store performance is concentrated among two locations.</a:t>
            </a:r>
          </a:p>
        </p:txBody>
      </p:sp>
      <p:sp>
        <p:nvSpPr>
          <p:cNvPr id="2" name="Content Placeholder 31">
            <a:extLst>
              <a:ext uri="{FF2B5EF4-FFF2-40B4-BE49-F238E27FC236}">
                <a16:creationId xmlns:a16="http://schemas.microsoft.com/office/drawing/2014/main" id="{9D7BDCC4-D0CA-F086-3202-6DC670BDD93E}"/>
              </a:ext>
            </a:extLst>
          </p:cNvPr>
          <p:cNvSpPr txBox="1">
            <a:spLocks/>
          </p:cNvSpPr>
          <p:nvPr/>
        </p:nvSpPr>
        <p:spPr>
          <a:xfrm>
            <a:off x="824484" y="3260995"/>
            <a:ext cx="10543032" cy="120602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Increase transactions</a:t>
            </a:r>
            <a:r>
              <a:rPr lang="en-US" dirty="0"/>
              <a:t> through targeted promotions to stabilize monthly revenue. For example, having limited time offers during low-performing months to reduce revenue fluctuations, offering bundle deals, like pairing a book with stationery, or encouraging cross-selling during checkout to help with low-performing categories.</a:t>
            </a:r>
            <a:endParaRPr lang="en-US" b="1" dirty="0"/>
          </a:p>
          <a:p>
            <a:endParaRPr lang="en-US" dirty="0"/>
          </a:p>
        </p:txBody>
      </p:sp>
      <p:sp>
        <p:nvSpPr>
          <p:cNvPr id="3" name="Content Placeholder 31">
            <a:extLst>
              <a:ext uri="{FF2B5EF4-FFF2-40B4-BE49-F238E27FC236}">
                <a16:creationId xmlns:a16="http://schemas.microsoft.com/office/drawing/2014/main" id="{8EFF782E-A0A4-BB48-AE08-DDF648A27D48}"/>
              </a:ext>
            </a:extLst>
          </p:cNvPr>
          <p:cNvSpPr txBox="1">
            <a:spLocks/>
          </p:cNvSpPr>
          <p:nvPr/>
        </p:nvSpPr>
        <p:spPr>
          <a:xfrm>
            <a:off x="824484" y="4588346"/>
            <a:ext cx="10543032" cy="940471"/>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Invest more in the top-performing category</a:t>
            </a:r>
            <a:r>
              <a:rPr lang="en-US" dirty="0"/>
              <a:t> to maximize what’s already working. We can do this by making sure we are promoting it more for visibility and keeping a well-stocked inventory, especially during peak seasons.</a:t>
            </a:r>
            <a:endParaRPr lang="en-US" b="1" dirty="0"/>
          </a:p>
          <a:p>
            <a:endParaRPr lang="en-US" dirty="0"/>
          </a:p>
        </p:txBody>
      </p:sp>
      <p:sp>
        <p:nvSpPr>
          <p:cNvPr id="5" name="Content Placeholder 31">
            <a:extLst>
              <a:ext uri="{FF2B5EF4-FFF2-40B4-BE49-F238E27FC236}">
                <a16:creationId xmlns:a16="http://schemas.microsoft.com/office/drawing/2014/main" id="{F2188FBC-1CF0-DCDD-2968-46620E240CBE}"/>
              </a:ext>
            </a:extLst>
          </p:cNvPr>
          <p:cNvSpPr txBox="1">
            <a:spLocks/>
          </p:cNvSpPr>
          <p:nvPr/>
        </p:nvSpPr>
        <p:spPr>
          <a:xfrm>
            <a:off x="824484" y="5650141"/>
            <a:ext cx="10543032" cy="673007"/>
          </a:xfrm>
          <a:prstGeom prst="rect">
            <a:avLst/>
          </a:prstGeom>
          <a:solidFill>
            <a:schemeClr val="bg1"/>
          </a:solidFill>
          <a:ln w="28575">
            <a:noFill/>
          </a:ln>
        </p:spPr>
        <p:txBody>
          <a:bodyPr vert="horz" lIns="91440" tIns="45720" rIns="91440" bIns="45720" rtlCol="0">
            <a:no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lvl="0"/>
            <a:r>
              <a:rPr lang="en-US" b="1" dirty="0"/>
              <a:t>Support lower-performing stores</a:t>
            </a:r>
            <a:r>
              <a:rPr lang="en-US" dirty="0"/>
              <a:t> by applying strategies used by top-performing locations, whether it be providing more training or using the same marketing strategy as the top stores.</a:t>
            </a:r>
          </a:p>
          <a:p>
            <a:pPr marL="0" indent="0">
              <a:buNone/>
            </a:pPr>
            <a:endParaRPr lang="en-US" b="1" dirty="0"/>
          </a:p>
          <a:p>
            <a:endParaRPr lang="en-US" dirty="0"/>
          </a:p>
        </p:txBody>
      </p:sp>
    </p:spTree>
    <p:extLst>
      <p:ext uri="{BB962C8B-B14F-4D97-AF65-F5344CB8AC3E}">
        <p14:creationId xmlns:p14="http://schemas.microsoft.com/office/powerpoint/2010/main" val="773863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62ED-8807-BB15-0671-CA78D309584D}"/>
              </a:ext>
            </a:extLst>
          </p:cNvPr>
          <p:cNvSpPr>
            <a:spLocks noGrp="1"/>
          </p:cNvSpPr>
          <p:nvPr>
            <p:ph type="title"/>
          </p:nvPr>
        </p:nvSpPr>
        <p:spPr>
          <a:xfrm>
            <a:off x="838200" y="1233805"/>
            <a:ext cx="10515600" cy="1325563"/>
          </a:xfrm>
        </p:spPr>
        <p:txBody>
          <a:bodyPr/>
          <a:lstStyle/>
          <a:p>
            <a:r>
              <a:rPr lang="en-US" dirty="0"/>
              <a:t>EXECUTIVE SUMMARY</a:t>
            </a:r>
          </a:p>
        </p:txBody>
      </p:sp>
      <p:sp>
        <p:nvSpPr>
          <p:cNvPr id="4" name="Content Placeholder 3">
            <a:extLst>
              <a:ext uri="{FF2B5EF4-FFF2-40B4-BE49-F238E27FC236}">
                <a16:creationId xmlns:a16="http://schemas.microsoft.com/office/drawing/2014/main" id="{F4F67FA5-3E7E-CD95-DB82-CB69E67A5E9B}"/>
              </a:ext>
            </a:extLst>
          </p:cNvPr>
          <p:cNvSpPr>
            <a:spLocks noGrp="1"/>
          </p:cNvSpPr>
          <p:nvPr>
            <p:ph sz="half" idx="2"/>
          </p:nvPr>
        </p:nvSpPr>
        <p:spPr>
          <a:xfrm>
            <a:off x="838200" y="2898457"/>
            <a:ext cx="10515600" cy="2048637"/>
          </a:xfrm>
        </p:spPr>
        <p:txBody>
          <a:bodyPr/>
          <a:lstStyle/>
          <a:p>
            <a:pPr marL="0" indent="0" algn="just">
              <a:buNone/>
            </a:pPr>
            <a:r>
              <a:rPr lang="en-US" dirty="0">
                <a:latin typeface="Aptos" panose="020B0004020202020204" pitchFamily="34" charset="0"/>
              </a:rPr>
              <a:t>The Florida territory generated approximately $3.93M in revenue, supported by strong transaction volume and led by high-performing stores and the Technology &amp; Accessories category. Although revenue grew overall, there were ups and downs from month to month, and some stores and categories did not perform as well as others. To keep growth steady, I suggest focusing sales efforts on the best-performing stores and categories, while also working to boost transaction volume and support areas that are not doing as well.</a:t>
            </a:r>
          </a:p>
          <a:p>
            <a:pPr marL="0" indent="0" algn="just">
              <a:buNone/>
            </a:pPr>
            <a:endParaRPr lang="en-US" dirty="0"/>
          </a:p>
        </p:txBody>
      </p:sp>
    </p:spTree>
    <p:extLst>
      <p:ext uri="{BB962C8B-B14F-4D97-AF65-F5344CB8AC3E}">
        <p14:creationId xmlns:p14="http://schemas.microsoft.com/office/powerpoint/2010/main" val="3142378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157256-FED8-C804-D57A-85BB06E7D6E3}"/>
              </a:ext>
            </a:extLst>
          </p:cNvPr>
          <p:cNvSpPr>
            <a:spLocks noGrp="1"/>
          </p:cNvSpPr>
          <p:nvPr>
            <p:ph type="title"/>
          </p:nvPr>
        </p:nvSpPr>
        <p:spPr/>
        <p:txBody>
          <a:bodyPr/>
          <a:lstStyle/>
          <a:p>
            <a:r>
              <a:rPr lang="en-US" dirty="0"/>
              <a:t>GitHub Repository </a:t>
            </a:r>
          </a:p>
        </p:txBody>
      </p:sp>
      <p:sp>
        <p:nvSpPr>
          <p:cNvPr id="2" name="Content Placeholder 1">
            <a:extLst>
              <a:ext uri="{FF2B5EF4-FFF2-40B4-BE49-F238E27FC236}">
                <a16:creationId xmlns:a16="http://schemas.microsoft.com/office/drawing/2014/main" id="{A0D80D99-22D0-7D35-26F0-37402E632F51}"/>
              </a:ext>
            </a:extLst>
          </p:cNvPr>
          <p:cNvSpPr>
            <a:spLocks noGrp="1"/>
          </p:cNvSpPr>
          <p:nvPr>
            <p:ph idx="1"/>
          </p:nvPr>
        </p:nvSpPr>
        <p:spPr/>
        <p:txBody>
          <a:bodyPr/>
          <a:lstStyle/>
          <a:p>
            <a:pPr marL="0" indent="0">
              <a:buNone/>
            </a:pPr>
            <a:r>
              <a:rPr lang="en-US" dirty="0">
                <a:hlinkClick r:id="rId3"/>
              </a:rPr>
              <a:t>https://github.com/renziesantarin/Capstone_1</a:t>
            </a:r>
            <a:endParaRPr lang="en-US" dirty="0"/>
          </a:p>
          <a:p>
            <a:pPr marL="0" indent="0">
              <a:buNone/>
            </a:pPr>
            <a:endParaRPr lang="en-US" dirty="0"/>
          </a:p>
        </p:txBody>
      </p:sp>
    </p:spTree>
    <p:extLst>
      <p:ext uri="{BB962C8B-B14F-4D97-AF65-F5344CB8AC3E}">
        <p14:creationId xmlns:p14="http://schemas.microsoft.com/office/powerpoint/2010/main" val="273437793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237</TotalTime>
  <Words>605</Words>
  <Application>Microsoft Office PowerPoint</Application>
  <PresentationFormat>Widescreen</PresentationFormat>
  <Paragraphs>56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Gill Sans MT</vt:lpstr>
      <vt:lpstr>Parcel</vt:lpstr>
      <vt:lpstr>Emporium sales analysis</vt:lpstr>
      <vt:lpstr>Introduction</vt:lpstr>
      <vt:lpstr>Sales Analysis</vt:lpstr>
      <vt:lpstr>What is total revenue overall for sales in the assigned territory, plus the start date and end date that tell you what period the data covers?</vt:lpstr>
      <vt:lpstr>What is the month-by-month revenue breakdown for the sales territory? </vt:lpstr>
      <vt:lpstr>Provide a comparison of total revenue for the specific sales territory and the region it belongs to. </vt:lpstr>
      <vt:lpstr>What is the number of transactions per month and average transaction size by product category for the sales territory? </vt:lpstr>
      <vt:lpstr>Can you provide a ranking of in-store sales performance by each store in the sales territory, or a ranking of online sales performance by state within an online sales territory? </vt:lpstr>
      <vt:lpstr>PowerPoint Presentation</vt:lpstr>
      <vt:lpstr>What is your recommendation for where to focus sales attention in the next quarter? </vt:lpstr>
      <vt:lpstr>EXECUTIVE SUMMARY</vt:lpstr>
      <vt:lpstr>GitHub Repository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marenza santarin</dc:creator>
  <cp:lastModifiedBy>marenza santarin</cp:lastModifiedBy>
  <cp:revision>12</cp:revision>
  <dcterms:created xsi:type="dcterms:W3CDTF">2026-04-29T09:01:01Z</dcterms:created>
  <dcterms:modified xsi:type="dcterms:W3CDTF">2026-04-30T06:26:11Z</dcterms:modified>
</cp:coreProperties>
</file>